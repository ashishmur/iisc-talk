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286000"/>
            <a:ext cx="85340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AI &amp; The New Management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6CBD"/>
                </a:solidFill>
                <a:latin typeface="Segoe UI"/>
              </a:defRPr>
            </a:pPr>
            <a:r>
              <a:t>Ashish Muralidharan  |  Product Manager,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IISc Department of Management Studies  |  March 6,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754880"/>
            <a:ext cx="85340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many of you feel anxious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about your future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because of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Show of hands.</a:t>
            </a:r>
          </a:p>
        </p:txBody>
      </p:sp>
      <p:pic>
        <p:nvPicPr>
          <p:cNvPr id="4" name="Picture 3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We live in a VUCA world. It's not cyclical. It's a one-way street.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Volatility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Rapid, unpredictable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54864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7C3"/>
                </a:solidFill>
                <a:latin typeface="Segoe UI"/>
              </a:defRPr>
            </a:pPr>
            <a: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Lack of predictability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651760" cy="54864"/>
          </a:xfrm>
          <a:prstGeom prst="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764B8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Interconnected forces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651760" cy="54864"/>
          </a:xfrm>
          <a:prstGeom prst="rect">
            <a:avLst/>
          </a:prstGeom>
          <a:solidFill>
            <a:srgbClr val="F76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7630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Ambiguity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Unclear cause and effect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Each technology disruption resets the VUCA cycle. AI is the latest, and possibly largest, reset.</a:t>
            </a:r>
          </a:p>
        </p:txBody>
      </p:sp>
      <p:pic>
        <p:nvPicPr>
          <p:cNvPr id="27" name="Picture 26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Technology has always been at the center of wealth creation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80" y="164592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Colonial expansion,</a:t>
            </a:r>
          </a:p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global trade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6CBD"/>
                </a:solidFill>
                <a:latin typeface="Segoe UI"/>
              </a:defRPr>
            </a:pPr>
            <a:r>
              <a:t>1500s-1800s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645920"/>
            <a:ext cx="457200" cy="457200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Industrial</a:t>
            </a:r>
          </a:p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Revolution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08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Mechanized labor,</a:t>
            </a:r>
          </a:p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restructured society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7C3"/>
                </a:solidFill>
                <a:latin typeface="Segoe UI"/>
              </a:defRPr>
            </a:pPr>
            <a:r>
              <a:t>1800s-1900s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1645920"/>
            <a:ext cx="457200" cy="457200"/>
          </a:xfrm>
          <a:prstGeom prst="ellipse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Information</a:t>
            </a:r>
          </a:p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08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Internet, tech giants,</a:t>
            </a:r>
          </a:p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digital economy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764B8"/>
                </a:solidFill>
                <a:latin typeface="Segoe UI"/>
              </a:defRPr>
            </a:pPr>
            <a:r>
              <a:t>1970s-2020s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0" y="1645920"/>
            <a:ext cx="457200" cy="45720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Artificial</a:t>
            </a:r>
          </a:p>
          <a:p>
            <a:pPr algn="ctr">
              <a:defRPr sz="1800" b="1">
                <a:solidFill>
                  <a:srgbClr val="242424"/>
                </a:solidFill>
                <a:latin typeface="Segoe UI"/>
              </a:defRPr>
            </a:pPr>
            <a: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108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The next reset.</a:t>
            </a:r>
          </a:p>
          <a:p>
            <a:pPr algn="ctr">
              <a:defRPr sz="1300" b="0">
                <a:solidFill>
                  <a:srgbClr val="616161"/>
                </a:solidFill>
                <a:latin typeface="Segoe UI"/>
              </a:defRPr>
            </a:pPr>
            <a:r>
              <a:t>We are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900"/>
                </a:solidFill>
                <a:latin typeface="Segoe UI"/>
              </a:defRPr>
            </a:pPr>
            <a:r>
              <a:t>2020s onward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The largest wealth-creating firms in every era are technology companies. All the billionaires come from there.</a:t>
            </a:r>
          </a:p>
        </p:txBody>
      </p:sp>
      <p:pic>
        <p:nvPicPr>
          <p:cNvPr id="26" name="Picture 2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fundamental economic equation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0BEC5"/>
                </a:solidFill>
                <a:latin typeface="Segoe UI"/>
              </a:defRPr>
            </a:pPr>
            <a:r>
              <a:t>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0BEC5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0BEC5"/>
                </a:solidFill>
                <a:latin typeface="Segoe UI"/>
              </a:defRPr>
            </a:pPr>
            <a:r>
              <a:t>Labor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0BEC5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0BEC5"/>
                </a:solidFill>
                <a:latin typeface="Segoe UI"/>
              </a:defRPr>
            </a:pPr>
            <a:r>
              <a:t>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0BEC5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6CBD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900"/>
                </a:solidFill>
                <a:latin typeface="Segoe UI"/>
              </a:defRPr>
            </a:pPr>
            <a:r>
              <a:t>Technology is fundamentally replacing labor in this equation.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We are at the outset of this shift. And it changes everything.</a:t>
            </a:r>
          </a:p>
        </p:txBody>
      </p:sp>
      <p:pic>
        <p:nvPicPr>
          <p:cNvPr id="13" name="Picture 12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36576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Technology vs. labor: a history</a:t>
            </a:r>
          </a:p>
        </p:txBody>
      </p:sp>
      <p:pic>
        <p:nvPicPr>
          <p:cNvPr id="6" name="Picture 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Every technology cycle follows the same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Technology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36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Anxiety about jobs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Physical labor displaced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50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People move 'up' to operational roles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Operational roles displaced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64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People move 'up' to intellectual roles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New job categories appear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Roles that never existed before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The software programmer never existed until it did. Each cycle creates roles we cannot yet imagine.</a:t>
            </a:r>
          </a:p>
        </p:txBody>
      </p:sp>
      <p:pic>
        <p:nvPicPr>
          <p:cNvPr id="23" name="Picture 22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But we may be running out of rungs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914400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Physical labor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Removed by mechanization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D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777240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Operational labor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Removed by information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7C3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6400800" cy="73152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Intellectual labor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Being removed by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900"/>
                </a:solidFill>
                <a:latin typeface="Segoe UI"/>
              </a:defRPr>
            </a:pPr>
            <a:r>
              <a:t>← We are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4572000" cy="7315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???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What's left?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Beyond intellect, what can we contribute? We don't have an answer for that yet.</a:t>
            </a:r>
          </a:p>
        </p:txBody>
      </p:sp>
      <p:pic>
        <p:nvPicPr>
          <p:cNvPr id="22" name="Picture 21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F6CBD"/>
                </a:solidFill>
                <a:latin typeface="Segoe UI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If you don't need intellectual labor anymore, what's left?</a:t>
            </a:r>
          </a:p>
          <a:p>
            <a:pPr algn="l">
              <a:spcAft>
                <a:spcPts val="12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You sell your time, or you sell your capital.</a:t>
            </a:r>
          </a:p>
          <a:p>
            <a:pPr algn="l">
              <a:spcAft>
                <a:spcPts val="12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Labor has nowhere else to move.</a:t>
            </a:r>
          </a:p>
          <a:p>
            <a:pPr algn="l">
              <a:spcAft>
                <a:spcPts val="12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We've hit the ceiling.</a:t>
            </a:r>
          </a:p>
        </p:txBody>
      </p:sp>
      <p:pic>
        <p:nvPicPr>
          <p:cNvPr id="4" name="Picture 3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The counter-narrative: embodied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02736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02736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CBD"/>
                </a:solidFill>
                <a:latin typeface="Segoe UI"/>
              </a:defRPr>
            </a:pPr>
            <a:r>
              <a:t>Tesla Optimus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369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Humanoid general-purpose robot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4" y="1645920"/>
            <a:ext cx="3602736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15384" y="1645920"/>
            <a:ext cx="3602736" cy="54864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82880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7C3"/>
                </a:solidFill>
                <a:latin typeface="Segoe UI"/>
              </a:defRPr>
            </a:pPr>
            <a:r>
              <a:t>Unitree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2240280"/>
            <a:ext cx="32369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Agile, affordable robotics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645920"/>
            <a:ext cx="3602736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645920"/>
            <a:ext cx="3602736" cy="54864"/>
          </a:xfrm>
          <a:prstGeom prst="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82880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764B8"/>
                </a:solidFill>
                <a:latin typeface="Segoe UI"/>
              </a:defRPr>
            </a:pPr>
            <a:r>
              <a:t>Hyundai Robotics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240280"/>
            <a:ext cx="32369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Industrial and service robotics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When AI gets a body to think, see, and operate in the physical world,</a:t>
            </a:r>
          </a:p>
          <a:p>
            <a:pPr algn="ctr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you're talking about complete replacement of human labor. Everything.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The 'golden era of hardware jobs' may also be the last frontier of human labor.</a:t>
            </a:r>
          </a:p>
        </p:txBody>
      </p:sp>
      <p:pic>
        <p:nvPicPr>
          <p:cNvPr id="20" name="Picture 19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OpenAI's five levels of AGI: where are we?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14400" cy="4572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2286000" cy="4572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71600"/>
            <a:ext cx="4114800" cy="4572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3200400" cy="4572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914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1847088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1847088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847088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568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19568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Conversational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ChatGPT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9568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87168"/>
            <a:ext cx="914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2487168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2487168"/>
            <a:ext cx="41148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2487168"/>
            <a:ext cx="3200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968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5968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5968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Chain-of-thought, problem solving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5968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27248"/>
            <a:ext cx="914400" cy="594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1600" y="3127248"/>
            <a:ext cx="2286000" cy="594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3127248"/>
            <a:ext cx="4114800" cy="594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3127248"/>
            <a:ext cx="3200400" cy="594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2369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236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323697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Plan, reason, act, 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2369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900"/>
                </a:solidFill>
                <a:latin typeface="Segoe UI"/>
              </a:defRPr>
            </a:pPr>
            <a:r>
              <a:t>We are 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67327"/>
            <a:ext cx="914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71600" y="3767327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3767327"/>
            <a:ext cx="41148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3767327"/>
            <a:ext cx="3200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877055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387705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AI Organizations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387705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Multiple agents coordinating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87705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630C"/>
                </a:solidFill>
                <a:latin typeface="Segoe UI"/>
              </a:defRPr>
            </a:pPr>
            <a:r>
              <a:t>Emerging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407408"/>
            <a:ext cx="914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71600" y="4407408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0" y="4407408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4407408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5171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45171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AGI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51713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General intelligence, all domains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5171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We are at Level 3: Agents. Systems that plan, reason, act, and learn. This has already changed everything.</a:t>
            </a:r>
          </a:p>
        </p:txBody>
      </p:sp>
      <p:pic>
        <p:nvPicPr>
          <p:cNvPr id="55" name="Picture 54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an 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A system that can pursue a goal repeatedly</a:t>
            </a:r>
          </a:p>
          <a:p>
            <a:pPr algn="ctr">
              <a:spcAft>
                <a:spcPts val="10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by reasoning, planning, using tools to act,</a:t>
            </a:r>
          </a:p>
          <a:p>
            <a:pPr algn="ctr">
              <a:spcAft>
                <a:spcPts val="1000"/>
              </a:spcAft>
              <a:defRPr sz="2600" b="0">
                <a:solidFill>
                  <a:srgbClr val="FFFFFF"/>
                </a:solidFill>
                <a:latin typeface="Segoe UI"/>
              </a:defRPr>
            </a:pPr>
            <a:r>
              <a:t>and learning from memory and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40480"/>
            <a:ext cx="1371600" cy="54864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3840480"/>
            <a:ext cx="1371600" cy="54864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840480"/>
            <a:ext cx="1371600" cy="548640"/>
          </a:xfrm>
          <a:prstGeom prst="round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840480"/>
            <a:ext cx="1371600" cy="54864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840480"/>
            <a:ext cx="1371600" cy="548640"/>
          </a:xfrm>
          <a:prstGeom prst="roundRect">
            <a:avLst/>
          </a:prstGeom>
          <a:solidFill>
            <a:srgbClr val="F76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840480"/>
            <a:ext cx="137160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B900"/>
                </a:solidFill>
                <a:latin typeface="Segoe UI"/>
              </a:defRPr>
            </a:pPr>
            <a:r>
              <a:t>For the first time, the entire signal-to-closure loop has been completely automated.</a:t>
            </a:r>
          </a:p>
        </p:txBody>
      </p:sp>
      <p:pic>
        <p:nvPicPr>
          <p:cNvPr id="23" name="Picture 22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36576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Ground Zero: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The first industry to fall</a:t>
            </a:r>
          </a:p>
        </p:txBody>
      </p:sp>
      <p:pic>
        <p:nvPicPr>
          <p:cNvPr id="6" name="Picture 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Why software is the first industry to 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02736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02736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CBD"/>
                </a:solidFill>
                <a:latin typeface="Segoe UI"/>
              </a:defRPr>
            </a:pPr>
            <a:r>
              <a:t>100%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2369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All work exists as data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Code, docs, git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4" y="1463040"/>
            <a:ext cx="3602736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15384" y="1463040"/>
            <a:ext cx="3602736" cy="54864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645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7C3"/>
                </a:solidFill>
                <a:latin typeface="Segoe UI"/>
              </a:defRPr>
            </a:pPr>
            <a:r>
              <a:t>Fully Closed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2057400"/>
            <a:ext cx="32369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Signal-to-closure is digital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No physical component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463040"/>
            <a:ext cx="3602736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463040"/>
            <a:ext cx="3602736" cy="54864"/>
          </a:xfrm>
          <a:prstGeom prst="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645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764B8"/>
                </a:solidFill>
                <a:latin typeface="Segoe UI"/>
              </a:defRPr>
            </a:pPr>
            <a:r>
              <a:t>Rich Training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057400"/>
            <a:ext cx="32369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Decades of open-source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Documentation everywhere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Single engineers now spin up 20 agents that read a spec and build the entire product end-to-end.</a:t>
            </a:r>
          </a:p>
        </p:txBody>
      </p:sp>
      <p:pic>
        <p:nvPicPr>
          <p:cNvPr id="19" name="Picture 18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The new reality of building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6CBD"/>
                </a:solidFill>
                <a:latin typeface="Segoe UI"/>
              </a:defRPr>
            </a:pPr>
            <a:r>
              <a:t>Andrej Karpathy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Ex-Tesla AI, Ex-OpenAI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Coined 'vibe coding': top developers haven't written code by hand in 100+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7C3"/>
                </a:solidFill>
                <a:latin typeface="Segoe UI"/>
              </a:defRPr>
            </a:pPr>
            <a:r>
              <a:t>Naval Ravikant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Segoe UI"/>
              </a:defRPr>
            </a:pPr>
            <a:r>
              <a:t>Entrepreneur, AngelList founder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"Product management is vibe coding.</a:t>
            </a:r>
          </a:p>
          <a:p>
            <a:pPr algn="l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Engineering is prompt engineering."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Even playing field: no domain expertise barrier, no expensive labor needed.</a:t>
            </a:r>
          </a:p>
          <a:p>
            <a:pPr algn="ctr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Anyone can build. The cost to produce software is approaching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You don't have to be literate in engineering to build a product anymore.</a:t>
            </a:r>
          </a:p>
        </p:txBody>
      </p:sp>
      <p:pic>
        <p:nvPicPr>
          <p:cNvPr id="16" name="Picture 1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F6CBD"/>
                </a:solidFill>
                <a:latin typeface="Segoe UI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The cost to build software has come down to zero.</a:t>
            </a:r>
          </a:p>
          <a:p>
            <a:pPr algn="l">
              <a:spcAft>
                <a:spcPts val="120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That's not hyperbole.</a:t>
            </a:r>
          </a:p>
          <a:p>
            <a:pPr algn="l">
              <a:spcAft>
                <a:spcPts val="120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That's what's happening right now.</a:t>
            </a:r>
          </a:p>
        </p:txBody>
      </p:sp>
      <p:pic>
        <p:nvPicPr>
          <p:cNvPr id="4" name="Picture 3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When production costs hit zero, distribution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What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Anyone can build software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No domain expertise barrier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Every market becomes overcrowded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3949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What matters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Distribution and marketing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Who can reach customers first?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Every market becomes a red ocean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"The new job for everyone has become marketing." Think Porter's Five Forces when barriers to entry collapse.</a:t>
            </a:r>
          </a:p>
        </p:txBody>
      </p:sp>
      <p:pic>
        <p:nvPicPr>
          <p:cNvPr id="15" name="Picture 14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This is already happening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02736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02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13438"/>
                </a:solidFill>
                <a:latin typeface="Segoe UI"/>
              </a:defRPr>
            </a:pPr>
            <a: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Block announced layoffs</a:t>
            </a:r>
          </a:p>
          <a:p>
            <a:pPr algn="ctr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specifically due to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5384" y="1463040"/>
            <a:ext cx="3602736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5384" y="1737360"/>
            <a:ext cx="3602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7630C"/>
                </a:solidFill>
                <a:latin typeface="Segoe UI"/>
              </a:defRPr>
            </a:pPr>
            <a:r>
              <a:t>25-30%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651760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IT company stocks down,</a:t>
            </a:r>
          </a:p>
          <a:p>
            <a:pPr algn="ctr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markets pricing in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463040"/>
            <a:ext cx="3602736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737360"/>
            <a:ext cx="3602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651760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AI mentions in financial</a:t>
            </a:r>
          </a:p>
          <a:p>
            <a:pPr algn="ctr">
              <a:defRPr sz="1500" b="0">
                <a:solidFill>
                  <a:srgbClr val="242424"/>
                </a:solidFill>
                <a:latin typeface="Segoe UI"/>
              </a:defRPr>
            </a:pPr>
            <a:r>
              <a:t>disclosures have exploded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Companies without an AI strategy are being punished by markets. Every tech company faces the innovator's dilemma.</a:t>
            </a:r>
          </a:p>
        </p:txBody>
      </p:sp>
      <p:pic>
        <p:nvPicPr>
          <p:cNvPr id="16" name="Picture 1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Two sides of the economic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The abundance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Remove humans from process loops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Fundamental deflation in costs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Goods become cheaper for everyone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Era of abundance, not scarcity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3949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The counter-thesis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What new jobs can appear?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Beyond intellectual work, what's left?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Only capital owners have a role?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The honest answer: we don't know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Our economics never taught us to prepare for this. You've broken the equation with a near-zero factor.</a:t>
            </a:r>
          </a:p>
        </p:txBody>
      </p:sp>
      <p:pic>
        <p:nvPicPr>
          <p:cNvPr id="15" name="Picture 14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Where value accrues in the AI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1463040" cy="914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2011680"/>
            <a:ext cx="1463040" cy="914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11680"/>
            <a:ext cx="1463040" cy="914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Fabricators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2011680"/>
            <a:ext cx="1463040" cy="914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Frontier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011680"/>
            <a:ext cx="1463040" cy="91440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Hyper-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011680"/>
            <a:ext cx="1463040" cy="914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Apps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011680"/>
            <a:ext cx="1463040" cy="91440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900"/>
                </a:solidFill>
                <a:latin typeface="Segoe UI"/>
              </a:defRPr>
            </a:pPr>
            <a:r>
              <a:t>The model is a commodity. Value lives in compute, context, and distribution.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6CBD"/>
                </a:solidFill>
                <a:latin typeface="Segoe UI"/>
              </a:defRPr>
            </a:pPr>
            <a:r>
              <a:t>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Infrastructure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6CBD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Organizational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6CBD"/>
                </a:solidFill>
                <a:latin typeface="Segoe UI"/>
              </a:defRPr>
            </a:pPr>
            <a:r>
              <a:t>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Reaching customers</a:t>
            </a:r>
          </a:p>
        </p:txBody>
      </p:sp>
      <p:pic>
        <p:nvPicPr>
          <p:cNvPr id="31" name="Picture 30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Agents don't need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UI was built for humans.</a:t>
            </a:r>
          </a:p>
          <a:p>
            <a:pPr algn="ctr"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Agents communicate through protocols.</a:t>
            </a:r>
          </a:p>
          <a:p>
            <a:pPr algn="ctr"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Your AI talks to other AIs and gets things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6CBD"/>
                </a:solidFill>
                <a:latin typeface="Segoe UI"/>
              </a:defRPr>
            </a:pPr>
            <a:r>
              <a:t>Anthropic's Model Context Protocol (MCP)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The application layer is under threat.</a:t>
            </a:r>
          </a:p>
          <a:p>
            <a:pPr algn="ctr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Why would you subject yourself to UI friction?</a:t>
            </a:r>
          </a:p>
        </p:txBody>
      </p:sp>
      <p:pic>
        <p:nvPicPr>
          <p:cNvPr id="7" name="Picture 6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36576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From the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What we learned at Microsoft</a:t>
            </a:r>
          </a:p>
        </p:txBody>
      </p:sp>
      <p:pic>
        <p:nvPicPr>
          <p:cNvPr id="6" name="Picture 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Microsoft's AI deployment: what we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What failed: top-down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"Here's how to use AI to be productive"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Too much nuance in individual work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Generic training doesn't stick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3949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What worked: bottom-up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Unlimited compute for product managers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Dedicated time to explore capabilities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Incentive structures tied to AI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6CBD"/>
                </a:solidFill>
                <a:latin typeface="Segoe UI"/>
              </a:defRPr>
            </a:pPr>
            <a:r>
              <a:t>Software engineers who adopted this are seeing 20x productivity.</a:t>
            </a:r>
          </a:p>
          <a:p>
            <a:pPr algn="ctr">
              <a:defRPr sz="2000" b="1">
                <a:solidFill>
                  <a:srgbClr val="0F6CBD"/>
                </a:solidFill>
                <a:latin typeface="Segoe UI"/>
              </a:defRPr>
            </a:pPr>
            <a:r>
              <a:t>That's at Microsoft, with our own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The more you use it and understand the patterns, the better you figure out what to build for customers.</a:t>
            </a:r>
          </a:p>
        </p:txBody>
      </p:sp>
      <p:pic>
        <p:nvPicPr>
          <p:cNvPr id="16" name="Picture 1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Project Nebula: building the muscle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02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Product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5384" y="1371600"/>
            <a:ext cx="3602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7C3"/>
                </a:solidFill>
                <a:latin typeface="Segoe UI"/>
              </a:defRPr>
            </a:pPr>
            <a:r>
              <a:t>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5384" y="2011680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371600"/>
            <a:ext cx="3602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764B8"/>
                </a:solidFill>
                <a:latin typeface="Segoe UI"/>
              </a:defRPr>
            </a:pPr>
            <a:r>
              <a:t>40-50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011680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16161"/>
                </a:solidFill>
                <a:latin typeface="Segoe UI"/>
              </a:defRPr>
            </a:pPr>
            <a:r>
              <a:t>Designers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Generate better ideas with AI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Create mockups and visual prototypes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Build working prototypes with models inside them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Deploy AI workflows into everyday work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Turn discoveries into learning modules for the 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New joiners inherit tribal knowledge we've accumulated and ramp up from there.</a:t>
            </a:r>
          </a:p>
        </p:txBody>
      </p:sp>
      <p:pic>
        <p:nvPicPr>
          <p:cNvPr id="14" name="Picture 13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6CBD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36576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New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Segoe UI"/>
              </a:defRPr>
            </a:pPr>
            <a:r>
              <a:t>Designing for AI organizations</a:t>
            </a:r>
          </a:p>
        </p:txBody>
      </p:sp>
      <p:pic>
        <p:nvPicPr>
          <p:cNvPr id="6" name="Picture 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Agents have different constraints than humans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Weaknesses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Hallucination and inconsistency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Jagged intelligence across domains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Limited domain expertise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Memory and context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3949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Tireless and persistent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Can reference massive scope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Plan and reason with available tools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Operate 24/7 without burnout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Managers of the future will design workflows for AI agents the way managers of the past designed them for humans.</a:t>
            </a:r>
          </a:p>
        </p:txBody>
      </p:sp>
      <p:pic>
        <p:nvPicPr>
          <p:cNvPr id="15" name="Picture 14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Organizational design principles apply to AI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463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63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63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Jira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14630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1371600"/>
            <a:ext cx="1463040" cy="731520"/>
          </a:xfrm>
          <a:prstGeom prst="round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1417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Engineers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2860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Traditional PM workflow (humans at every step)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2926080"/>
            <a:ext cx="1463040" cy="731520"/>
          </a:xfrm>
          <a:prstGeom prst="round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29718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Agents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84048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Agent workflow (same structure, AI at every step)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42424"/>
                </a:solidFill>
                <a:latin typeface="Segoe UI"/>
              </a:defRPr>
            </a:pPr>
            <a:r>
              <a:t>Git for coordination. Unit tests for quality. The patterns are identical.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Your ability to replace labor with compute and design value-creating workflows is the new core skill.</a:t>
            </a:r>
          </a:p>
        </p:txBody>
      </p:sp>
      <p:pic>
        <p:nvPicPr>
          <p:cNvPr id="50" name="Picture 49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Two skills every manager needs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CBD"/>
                </a:solidFill>
                <a:latin typeface="Segoe UI"/>
              </a:defRPr>
            </a:pPr>
            <a:r>
              <a:t>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The ability to instruct AI precisely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Clear, structured instructions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Context design and curation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From vague intent to specific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39496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394960" cy="54864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7C3"/>
                </a:solidFill>
                <a:latin typeface="Segoe UI"/>
              </a:defRPr>
            </a:pPr>
            <a:r>
              <a:t>Evaluations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Measuring if AI is doing a good job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Think: unit tests for intelligence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Defining quality at every step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Feedback loops that improve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Prompting is the new management. Evaluations are the new quality assurance.</a:t>
            </a:r>
          </a:p>
        </p:txBody>
      </p:sp>
      <p:pic>
        <p:nvPicPr>
          <p:cNvPr id="15" name="Picture 14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age of the polymath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572000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51760" cy="164592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6CBD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Polished visual prototypes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651760" cy="164592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7C3"/>
                </a:solidFill>
                <a:latin typeface="Segoe UI"/>
              </a:defRPr>
            </a:pPr>
            <a: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Working systems and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651760" cy="164592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651760" cy="54864"/>
          </a:xfrm>
          <a:prstGeom prst="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764B8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Finance, research,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651760" cy="164592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651760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900"/>
                </a:solidFill>
                <a:latin typeface="Segoe UI"/>
              </a:defRPr>
            </a:pPr>
            <a:r>
              <a:t>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Segoe UI"/>
              </a:defRPr>
            </a:pPr>
            <a:r>
              <a:t>Deploy, test, iterate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900"/>
                </a:solidFill>
                <a:latin typeface="Segoe UI"/>
              </a:defRPr>
            </a:pPr>
            <a:r>
              <a:t>"If you cannot prototype it, that idea cannot be built."</a:t>
            </a:r>
          </a:p>
          <a:p>
            <a:pPr algn="ctr">
              <a:defRPr sz="2000" b="0">
                <a:solidFill>
                  <a:srgbClr val="FFB900"/>
                </a:solidFill>
                <a:latin typeface="Segoe UI"/>
              </a:defRPr>
            </a:pPr>
            <a:r>
              <a:t>The one-person billion-dollar startup isn't a meme anymore.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A Renaissance of thinkers who coordinate across finance, marketing,</a:t>
            </a:r>
          </a:p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engineering, and growth, all at the same time.</a:t>
            </a:r>
          </a:p>
        </p:txBody>
      </p:sp>
      <p:pic>
        <p:nvPicPr>
          <p:cNvPr id="22" name="Picture 21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What you should do right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Build a personal AI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Segoe UI"/>
              </a:defRPr>
            </a:pPr>
            <a:r>
              <a:t>Invest monthly. Rotate, explore, keep what works.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77439"/>
            <a:ext cx="457200" cy="457200"/>
          </a:xfrm>
          <a:prstGeom prst="ellipse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Build things in your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04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Segoe UI"/>
              </a:defRPr>
            </a:pPr>
            <a:r>
              <a:t>Show AI fluency through working prototypes.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Think in workflows, not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649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Segoe UI"/>
              </a:defRPr>
            </a:pPr>
            <a:r>
              <a:t>Design end-to-end processes. Build context.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424"/>
                </a:solidFill>
                <a:latin typeface="Segoe UI"/>
              </a:defRPr>
            </a:pPr>
            <a:r>
              <a:t>Become a generalist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3251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Segoe UI"/>
              </a:defRPr>
            </a:pPr>
            <a:r>
              <a:t>Prototype, design, code, analyze, 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The most valuable managers will be the ones who figure out how to diffuse AI throughout the company.</a:t>
            </a:r>
          </a:p>
        </p:txBody>
      </p:sp>
      <p:pic>
        <p:nvPicPr>
          <p:cNvPr id="23" name="Picture 22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424"/>
                </a:solidFill>
                <a:latin typeface="Segoe UI"/>
              </a:defRPr>
            </a:pPr>
            <a:r>
              <a:t>Show, don't tell: build in your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02736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02736" cy="54864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6CBD"/>
                </a:solidFill>
                <a:latin typeface="Segoe UI"/>
              </a:defRPr>
            </a:pPr>
            <a:r>
              <a:t>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23697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Trading bots with technical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Automated opportunity identification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Simulation and scoring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4" y="1463040"/>
            <a:ext cx="3602736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15384" y="1463040"/>
            <a:ext cx="3602736" cy="54864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645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7C3"/>
                </a:solidFill>
                <a:latin typeface="Segoe UI"/>
              </a:defRPr>
            </a:pPr>
            <a:r>
              <a:t>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2057400"/>
            <a:ext cx="323697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Brand concept generators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Social media agents for content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Memetic opportunity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463040"/>
            <a:ext cx="3602736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463040"/>
            <a:ext cx="3602736" cy="54864"/>
          </a:xfrm>
          <a:prstGeom prst="rect">
            <a:avLst/>
          </a:prstGeom>
          <a:solidFill>
            <a:srgbClr val="87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645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764B8"/>
                </a:solidFill>
                <a:latin typeface="Segoe UI"/>
              </a:defRPr>
            </a:pPr>
            <a: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057400"/>
            <a:ext cx="323697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Fake-door websites to test demand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Market validation experiments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End-to-end campaign automation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1277295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54864" cy="594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5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EA3"/>
                </a:solidFill>
                <a:latin typeface="Segoe UI"/>
              </a:defRPr>
            </a:pPr>
            <a:r>
              <a:t>Walk into your interview showing a working AI-powered system. That's why they'll hire you, not your degree.</a:t>
            </a:r>
          </a:p>
        </p:txBody>
      </p:sp>
      <p:pic>
        <p:nvPicPr>
          <p:cNvPr id="19" name="Picture 18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EC5"/>
                </a:solidFill>
                <a:latin typeface="Segoe UI"/>
              </a:defRPr>
            </a:pPr>
            <a:r>
              <a:t>Let's come back to where we started.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That anxiety is the same anxiety people felt when the steam engine arrived.</a:t>
            </a:r>
          </a:p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When the assembly line was invented. When the internet showed up.</a:t>
            </a:r>
          </a:p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Every single time, the people who leaned into the change,</a:t>
            </a:r>
          </a:p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who learned the new tools, who built instead of froze...</a:t>
            </a:r>
          </a:p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they didn't just survive. They defined the next 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B900"/>
                </a:solidFill>
                <a:latin typeface="Segoe UI"/>
              </a:defRPr>
            </a:pPr>
            <a:r>
              <a:t>You are at one of the finest academic institutions in this country.</a:t>
            </a:r>
          </a:p>
          <a:p>
            <a:pPr algn="ctr">
              <a:defRPr sz="1600" b="0">
                <a:solidFill>
                  <a:srgbClr val="FFB900"/>
                </a:solidFill>
                <a:latin typeface="Segoe UI"/>
              </a:defRPr>
            </a:pPr>
            <a:r>
              <a:t>You can build a product tonight. Prototype a business idea by tomorrow morning.</a:t>
            </a:r>
          </a:p>
        </p:txBody>
      </p:sp>
      <p:pic>
        <p:nvPicPr>
          <p:cNvPr id="5" name="Picture 4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ceiling on intellectual labor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feels like a wall if you're standing under it.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But it's a launchpad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if you're the one building the systems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that sit on top of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F6CBD"/>
                </a:solidFill>
                <a:latin typeface="Segoe UI"/>
              </a:defRPr>
            </a:pPr>
            <a:r>
              <a:t>So let me ask again: how many of you feel anxious?</a:t>
            </a:r>
          </a:p>
        </p:txBody>
      </p:sp>
      <p:pic>
        <p:nvPicPr>
          <p:cNvPr id="4" name="Picture 3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705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Go build something.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6705295" cy="36576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Segoe UI"/>
              </a:defRPr>
            </a:pPr>
            <a:r>
              <a:t>Ashish Muralidharan  |  ashish.muralidharan@microsoft.com</a:t>
            </a:r>
          </a:p>
        </p:txBody>
      </p:sp>
      <p:pic>
        <p:nvPicPr>
          <p:cNvPr id="6" name="Picture 5" descr="micro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6400800"/>
            <a:ext cx="822960" cy="175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